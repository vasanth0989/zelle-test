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64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6264D"/>
                </a:solidFill>
                <a:latin typeface="Arial"/>
              </a:rPr>
              <a:t>Current vs. target (illustrative)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626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p99 latency (ms)</c:v>
                </c:pt>
                <c:pt idx="1">
                  <c:v>Deploys / month</c:v>
                </c:pt>
                <c:pt idx="2">
                  <c:v>Incidents / qtr</c:v>
                </c:pt>
                <c:pt idx="3">
                  <c:v>Infra cost index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</c:v>
                </c:pt>
                <c:pt idx="1">
                  <c:v>4</c:v>
                </c:pt>
                <c:pt idx="2">
                  <c:v>9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E9-43C2-8CE3-B2EDCAAF35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0E959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p99 latency (ms)</c:v>
                </c:pt>
                <c:pt idx="1">
                  <c:v>Deploys / month</c:v>
                </c:pt>
                <c:pt idx="2">
                  <c:v>Incidents / qtr</c:v>
                </c:pt>
                <c:pt idx="3">
                  <c:v>Infra cost index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450</c:v>
                </c:pt>
                <c:pt idx="1">
                  <c:v>24</c:v>
                </c:pt>
                <c:pt idx="2">
                  <c:v>3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E9-43C2-8CE3-B2EDCAAF35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30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0E959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356616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5120640"/>
            <a:ext cx="1280160" cy="1280160"/>
          </a:xfrm>
          <a:prstGeom prst="ellipse">
            <a:avLst/>
          </a:prstGeom>
          <a:solidFill>
            <a:srgbClr val="E883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960120"/>
            <a:ext cx="658368" cy="658368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11312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/ ORGANIZATION NAME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9509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or Initiative Title Goes Here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 •  Architecture review  •  Decision proposal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5029200"/>
            <a:ext cx="4023360" cy="0"/>
          </a:xfrm>
          <a:prstGeom prst="line">
            <a:avLst/>
          </a:prstGeom>
          <a:noFill/>
          <a:ln w="12700">
            <a:solidFill>
              <a:srgbClr val="2237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5212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  •  Role / Title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DD, YYYY  •  Audience or Forum Name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and the decision we are asking for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066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now — drivers, constraints, and what breaks if we do nothing.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53128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81728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81728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1728" y="27066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works today, and where the friction points 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57616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86216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86216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86216" y="27066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end state and the principles behind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114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&amp; Trade-offs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17550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considered, evaluation criteria, and our recommendation.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53128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81728" y="4114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681728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Milestones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81728" y="517550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Phasing, timeline, and dependencies across teams.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57616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86216" y="4114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586216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&amp; Next Steps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86216" y="517550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from this group, owners, and dates.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a leader can read in 30 seconds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03504" cy="603504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16859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01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16712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pain in one or two lines: what is slow, costly, risky, or blocking the business today.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3611880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71" y="376879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01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76732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recommendation plainly: what we want to build or change, and the option we are recommending.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5212080"/>
            <a:ext cx="603504" cy="603504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71" y="536899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50017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36752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the outcome: performance, cost, risk reduction, or capability unlocked — with a date attached.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63840" y="1600200"/>
            <a:ext cx="3776472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B9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092440" y="17647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8092440" y="2496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p99 latency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863840" y="3200400"/>
            <a:ext cx="3776472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B9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092440" y="33649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8092440" y="4096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savings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863840" y="4800600"/>
            <a:ext cx="3776472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 w="12700">
            <a:solidFill>
              <a:srgbClr val="B9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092440" y="49651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4000" dirty="0"/>
          </a:p>
        </p:txBody>
      </p:sp>
      <p:sp>
        <p:nvSpPr>
          <p:cNvPr id="27" name="Text 22"/>
          <p:cNvSpPr/>
          <p:nvPr/>
        </p:nvSpPr>
        <p:spPr>
          <a:xfrm>
            <a:off x="8092440" y="5696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go-live quarter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023360" cy="4023360"/>
          </a:xfrm>
          <a:prstGeom prst="ellipse">
            <a:avLst/>
          </a:prstGeom>
          <a:solidFill>
            <a:srgbClr val="0E959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state, target state, and how data moves through the system.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view — replace layers and boxes with your own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406640" cy="987552"/>
          </a:xfrm>
          <a:prstGeom prst="roundRect">
            <a:avLst>
              <a:gd name="adj" fmla="val 4630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7406640" cy="987552"/>
          </a:xfrm>
          <a:prstGeom prst="roundRect">
            <a:avLst>
              <a:gd name="adj" fmla="val 4630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670048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3858768"/>
            <a:ext cx="7406640" cy="987552"/>
          </a:xfrm>
          <a:prstGeom prst="roundRect">
            <a:avLst>
              <a:gd name="adj" fmla="val 4630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3858768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5047488"/>
            <a:ext cx="7406640" cy="987552"/>
          </a:xfrm>
          <a:prstGeom prst="roundRect">
            <a:avLst>
              <a:gd name="adj" fmla="val 4630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5047488"/>
            <a:ext cx="914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164592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1645920"/>
            <a:ext cx="17373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164592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1645920"/>
            <a:ext cx="17373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164592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1645920"/>
            <a:ext cx="17373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83464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2237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0" y="2834640"/>
            <a:ext cx="36576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/ Load Balancer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65960" y="4023360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65960" y="4023360"/>
            <a:ext cx="3108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business domains coupled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402336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2237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9240" y="4023360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Jobs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sync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77440" y="521208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377440" y="5212080"/>
            <a:ext cx="21945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shared schema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521208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5212080"/>
            <a:ext cx="17373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2304288"/>
            <a:ext cx="1097280" cy="53035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26280" y="2304288"/>
            <a:ext cx="0" cy="53035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H="1">
            <a:off x="5029200" y="2304288"/>
            <a:ext cx="1463040" cy="53035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H="1">
            <a:off x="3749040" y="3493008"/>
            <a:ext cx="457200" cy="53035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212080" y="3493008"/>
            <a:ext cx="1005840" cy="53035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20440" y="4681728"/>
            <a:ext cx="0" cy="53035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H="1">
            <a:off x="5897880" y="4681728"/>
            <a:ext cx="182880" cy="53035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74920" y="4352544"/>
            <a:ext cx="2743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61447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component      </a:t>
            </a:r>
            <a:r>
              <a:rPr lang="en-US" sz="110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point      </a:t>
            </a: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coupling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83880" y="1481328"/>
            <a:ext cx="3456432" cy="4553712"/>
          </a:xfrm>
          <a:prstGeom prst="roundRect">
            <a:avLst>
              <a:gd name="adj" fmla="val 2116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41248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412480" y="21488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deploy unit — one change ships everything, release cadence is slow.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database schema creates cross-team contention and risky migrations.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Batch-driven sync means downstream data is up to 24h stale.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isolation: a spike in one domain degrades all others.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12480" y="562356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7E3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1248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5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PAIN POINTS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end state — teal marks new components, navy marks retained 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Mobile Clients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Systems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4630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83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Provider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/ OIDC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42976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• rate limiting • routing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2011680"/>
            <a:ext cx="822960" cy="5029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H="1">
            <a:off x="3566160" y="2011680"/>
            <a:ext cx="640080" cy="5029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4663440" y="2011680"/>
            <a:ext cx="1737360" cy="685800"/>
          </a:xfrm>
          <a:prstGeom prst="line">
            <a:avLst/>
          </a:prstGeom>
          <a:noFill/>
          <a:ln w="22225">
            <a:solidFill>
              <a:srgbClr val="E8833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35204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payments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17320" y="4572000"/>
            <a:ext cx="914400" cy="566928"/>
          </a:xfrm>
          <a:prstGeom prst="can">
            <a:avLst/>
          </a:prstGeom>
          <a:solidFill>
            <a:srgbClr val="2237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7320" y="462686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74520" y="4206240"/>
            <a:ext cx="0" cy="3657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63240" y="35204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6324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accounts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4572000"/>
            <a:ext cx="914400" cy="566928"/>
          </a:xfrm>
          <a:prstGeom prst="can">
            <a:avLst/>
          </a:prstGeom>
          <a:solidFill>
            <a:srgbClr val="2237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66160" y="462686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0" y="4206240"/>
            <a:ext cx="0" cy="3657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0" y="35204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notifications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0" y="4572000"/>
            <a:ext cx="914400" cy="566928"/>
          </a:xfrm>
          <a:prstGeom prst="can">
            <a:avLst/>
          </a:prstGeom>
          <a:solidFill>
            <a:srgbClr val="2237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15000" y="462686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4206240"/>
            <a:ext cx="0" cy="3657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0" y="3081528"/>
            <a:ext cx="457200" cy="43891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66160" y="3081528"/>
            <a:ext cx="457200" cy="43891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3081528"/>
            <a:ext cx="1554480" cy="438912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4400" y="5486400"/>
            <a:ext cx="10744200" cy="457200"/>
          </a:xfrm>
          <a:prstGeom prst="roundRect">
            <a:avLst>
              <a:gd name="adj" fmla="val 120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400" y="5486400"/>
            <a:ext cx="10744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 (async domain events)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68880" y="4206240"/>
            <a:ext cx="0" cy="1280160"/>
          </a:xfrm>
          <a:prstGeom prst="line">
            <a:avLst/>
          </a:prstGeom>
          <a:noFill/>
          <a:ln w="22225">
            <a:solidFill>
              <a:srgbClr val="0B7A79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4206240"/>
            <a:ext cx="0" cy="1280160"/>
          </a:xfrm>
          <a:prstGeom prst="line">
            <a:avLst/>
          </a:prstGeom>
          <a:noFill/>
          <a:ln w="22225">
            <a:solidFill>
              <a:srgbClr val="0B7A79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66560" y="4206240"/>
            <a:ext cx="0" cy="1280160"/>
          </a:xfrm>
          <a:prstGeom prst="line">
            <a:avLst/>
          </a:prstGeom>
          <a:noFill/>
          <a:ln w="22225">
            <a:solidFill>
              <a:srgbClr val="0B7A79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863840" y="352044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86384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Consumer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events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966960" y="35204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966960" y="3520440"/>
            <a:ext cx="1691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/ Reporting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events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778240" y="4233672"/>
            <a:ext cx="0" cy="1252728"/>
          </a:xfrm>
          <a:prstGeom prst="line">
            <a:avLst/>
          </a:prstGeom>
          <a:noFill/>
          <a:ln w="22225">
            <a:solidFill>
              <a:srgbClr val="0B7A79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808208" y="4233672"/>
            <a:ext cx="0" cy="1252728"/>
          </a:xfrm>
          <a:prstGeom prst="line">
            <a:avLst/>
          </a:prstGeom>
          <a:noFill/>
          <a:ln w="22225">
            <a:solidFill>
              <a:srgbClr val="0B7A79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29600" y="1463040"/>
            <a:ext cx="3410712" cy="1463040"/>
          </a:xfrm>
          <a:prstGeom prst="roundRect">
            <a:avLst>
              <a:gd name="adj" fmla="val 5000"/>
            </a:avLst>
          </a:prstGeom>
          <a:solidFill>
            <a:srgbClr val="EAF4F4"/>
          </a:solidFill>
          <a:ln w="12700">
            <a:solidFill>
              <a:srgbClr val="B9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45820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58200" y="18653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database per service  •  async by default  •  gateway owns cross-cutting concerns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6144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    </a:t>
            </a:r>
            <a:r>
              <a:rPr lang="en-US" sz="1100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   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/ downstream      </a:t>
            </a:r>
            <a:r>
              <a:rPr lang="en-US" sz="1000" b="1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event flow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&amp;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path, numbered end to end — swap steps for your own sequence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0412" y="237744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269" y="2603297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77340" y="2286000"/>
            <a:ext cx="329184" cy="329184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773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33832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0352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request over HTTPS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85416" y="2811780"/>
            <a:ext cx="475488" cy="0"/>
          </a:xfrm>
          <a:prstGeom prst="line">
            <a:avLst/>
          </a:prstGeom>
          <a:noFill/>
          <a:ln w="28575">
            <a:solidFill>
              <a:srgbClr val="0E95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967228" y="2377440"/>
            <a:ext cx="868680" cy="86868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085" y="2603297"/>
            <a:ext cx="416966" cy="41696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534156" y="2286000"/>
            <a:ext cx="329184" cy="329184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534156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33832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487168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authenticates, applies limits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142232" y="2811780"/>
            <a:ext cx="475488" cy="0"/>
          </a:xfrm>
          <a:prstGeom prst="line">
            <a:avLst/>
          </a:prstGeom>
          <a:noFill/>
          <a:ln w="28575">
            <a:solidFill>
              <a:srgbClr val="0E95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924044" y="2377440"/>
            <a:ext cx="868680" cy="86868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icons/settin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901" y="2603297"/>
            <a:ext cx="416966" cy="41696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490972" y="2286000"/>
            <a:ext cx="329184" cy="329184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490972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480560" y="33832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443984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&amp; executes logic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099048" y="2811780"/>
            <a:ext cx="475488" cy="0"/>
          </a:xfrm>
          <a:prstGeom prst="line">
            <a:avLst/>
          </a:prstGeom>
          <a:noFill/>
          <a:ln w="28575">
            <a:solidFill>
              <a:srgbClr val="0E95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880860" y="237744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icons/s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717" y="2603297"/>
            <a:ext cx="416966" cy="41696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447788" y="2286000"/>
            <a:ext cx="329184" cy="329184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447788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37376" y="33832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400800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publishes domain event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055864" y="2811780"/>
            <a:ext cx="475488" cy="0"/>
          </a:xfrm>
          <a:prstGeom prst="line">
            <a:avLst/>
          </a:prstGeom>
          <a:noFill/>
          <a:ln w="28575">
            <a:solidFill>
              <a:srgbClr val="0E95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837676" y="2377440"/>
            <a:ext cx="868680" cy="86868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icons/repea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3533" y="2603297"/>
            <a:ext cx="416966" cy="41696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404604" y="2286000"/>
            <a:ext cx="329184" cy="329184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9404604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8394192" y="33832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8357616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read models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10012680" y="2811780"/>
            <a:ext cx="475488" cy="0"/>
          </a:xfrm>
          <a:prstGeom prst="line">
            <a:avLst/>
          </a:prstGeom>
          <a:noFill/>
          <a:ln w="28575">
            <a:solidFill>
              <a:srgbClr val="0E95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10794492" y="2377440"/>
            <a:ext cx="868680" cy="8686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5" descr="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0349" y="2603297"/>
            <a:ext cx="416966" cy="416966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1361420" y="2286000"/>
            <a:ext cx="329184" cy="329184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1136142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10351008" y="33832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10314432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persisted &amp; queryable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548640" y="45720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6" descr="icons/aler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606" y="4988966"/>
            <a:ext cx="263347" cy="263347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600200" y="4754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handling</a:t>
            </a:r>
            <a:endParaRPr lang="en-US" sz="1400" dirty="0"/>
          </a:p>
        </p:txBody>
      </p:sp>
      <p:sp>
        <p:nvSpPr>
          <p:cNvPr id="49" name="Text 40"/>
          <p:cNvSpPr/>
          <p:nvPr/>
        </p:nvSpPr>
        <p:spPr>
          <a:xfrm>
            <a:off x="1600200" y="510235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with backoff at steps 2–3; dead-letter queue at step 4; idempotency keys make replays safe.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309360" y="4572000"/>
            <a:ext cx="5330952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6583680" y="4846320"/>
            <a:ext cx="548640" cy="54864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7" descr="icons/cloc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6326" y="4988966"/>
            <a:ext cx="263347" cy="263347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7360920" y="4754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budget</a:t>
            </a:r>
            <a:endParaRPr lang="en-US" sz="1400" dirty="0"/>
          </a:p>
        </p:txBody>
      </p:sp>
      <p:sp>
        <p:nvSpPr>
          <p:cNvPr id="54" name="Text 44"/>
          <p:cNvSpPr/>
          <p:nvPr/>
        </p:nvSpPr>
        <p:spPr>
          <a:xfrm>
            <a:off x="7360920" y="510235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p99 target: 800 ms. Gateway 50 ms • Service 400 ms • Persistence 150 ms • Headroom 200 ms.</a:t>
            </a:r>
            <a:endParaRPr lang="en-US" sz="1100" dirty="0"/>
          </a:p>
        </p:txBody>
      </p:sp>
      <p:sp>
        <p:nvSpPr>
          <p:cNvPr id="55" name="Text 45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Considered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paths evaluated against cost, risk, and time-to-value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603504" cy="603504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box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191255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002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&amp; Shift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786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current system as-is to new infrastructure.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3101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566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to execute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near-term cost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4334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5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45902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all existing debt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scalability gains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53128" y="1481328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EAF4F4"/>
          </a:solidFill>
          <a:ln w="1270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27448" y="1755648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icons/git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359" y="1912559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04688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504688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Strangler Migration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727448" y="25786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Incrementally carve domains out of the monolith behind the gateway.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27448" y="33101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27448" y="3566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delivered each phase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contained per domain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727448" y="4334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5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27448" y="45902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total duration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Dual-run complexity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27448" y="555040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727448" y="5550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RECOMMENDED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357616" y="1481328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8631936" y="1755648"/>
            <a:ext cx="603504" cy="603504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icons/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847" y="1912559"/>
            <a:ext cx="289682" cy="28968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409176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940917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Rebuild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631936" y="25786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Green-field rewrite of the platform on the target stack.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631936" y="33101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8631936" y="3566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legacy constraints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8631936" y="4334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5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631936" y="45902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cost &amp; risk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time to first value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illustrative — replace criteria, weights, and ratings with your own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3832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 (weight)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 — Lift &amp; Shift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 — Strangler 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C — Rebuild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first value (25%)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7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7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3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risk (25%)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7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8A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3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 gained (20%)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3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7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7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3-year total cost (20%)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3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8A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3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disruption (10%)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7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8A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3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score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 /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7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 /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/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Recommended: Option B balances risk and time-to-value while still reaching the target architecture.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Milestones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 — adjust quarters, gates, and deliverables to your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0515600" cy="0"/>
          </a:xfrm>
          <a:prstGeom prst="line">
            <a:avLst/>
          </a:prstGeom>
          <a:noFill/>
          <a:ln w="381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41932" y="2084832"/>
            <a:ext cx="768096" cy="768096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637" y="2284537"/>
            <a:ext cx="368686" cy="3686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14500" y="15087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1450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33192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&amp; Prepare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794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3950208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boundaries mapped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CI/CD in place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onboarding done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78452" y="2084832"/>
            <a:ext cx="768096" cy="76809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to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157" y="2284537"/>
            <a:ext cx="368686" cy="36868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51020" y="15087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35102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5948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22320" y="33192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First Slice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459480" y="3794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642360" y="3950208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 extracted live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in production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 baseline validated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014972" y="2084832"/>
            <a:ext cx="768096" cy="76809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icons/rep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77" y="2284537"/>
            <a:ext cx="368686" cy="36868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987540" y="15087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98754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09600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958840" y="33192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at Scale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096000" y="3794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278880" y="3950208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B &amp; C extracted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writes disabled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Dual-run retired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9651492" y="2084832"/>
            <a:ext cx="768096" cy="768096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icons/fla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1197" y="2284537"/>
            <a:ext cx="368686" cy="368686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9624060" y="15087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9624060" y="1508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73252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8595360" y="33192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&amp; Close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8732520" y="3794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915400" y="3950208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 decommissioned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SLO targets met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handed over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822960" y="580644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FDF3EA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1051560" y="5806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5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criteria:  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exits only when its deliverables are met and error budgets are green — otherwise the next phase does not start.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own baseline vs. target metrics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2237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5448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66760" y="1691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366760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frequent releases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138160" y="310896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366760" y="32461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–45%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366760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 latency vs. 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466344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366760" y="48006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–28%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366760" y="5504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cost at steady state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owner and trigger for every risk — no orphaned risks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737360"/>
            <a:ext cx="530352" cy="530352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64" y="187525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55648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drift during dual-run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322576"/>
            <a:ext cx="4233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job compares legacy vs. new hourly; auto-alert on &gt;0.1% divergence.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08760" y="3264408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Data Eng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36792" y="1481328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92824" y="1737360"/>
            <a:ext cx="530352" cy="530352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716" y="187525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1755648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team slips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296912" y="2322576"/>
            <a:ext cx="4233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 APIs agreed in Phase 1; mocks unblock parallel work if a dependency is late.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296912" y="3264408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Program Mgmt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950208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04672" y="4206240"/>
            <a:ext cx="530352" cy="530352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64" y="434413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224528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regression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508760" y="4791456"/>
            <a:ext cx="4233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Gatling load tests gate every release; rollback runbook rehearsed before cut-over.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508760" y="5733288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Platform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36792" y="3950208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592824" y="4206240"/>
            <a:ext cx="530352" cy="530352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716" y="4344132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96912" y="4224528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 per domain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296912" y="4791456"/>
            <a:ext cx="4233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7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control after Phase 1 baseline; new asks route to the Phase 4 backlog.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296912" y="5733288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Product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this group, and what happens in the next 90 days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AF4F4"/>
          </a:solidFill>
          <a:ln w="12700">
            <a:solidFill>
              <a:srgbClr val="B9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566928" cy="566928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19030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today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Option B (strangler migration) as the delivery approach.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funding for Phases 1–2 (detail in appendix).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 executive sponsor and a weekly decision forum.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dependency teams' capacity for Q1 onboarding.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481328"/>
            <a:ext cx="5376672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1865376"/>
            <a:ext cx="640080" cy="64008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865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06640" y="1709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30 DAYS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06640" y="20116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domain map, stand up gateway in staging, hire backfill for Team 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3063240"/>
            <a:ext cx="5376672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37960" y="3447288"/>
            <a:ext cx="640080" cy="64008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37960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0664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60 DAYS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35935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 skeleton in production behind a feature flag; event bus POC signed off.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63640" y="4645152"/>
            <a:ext cx="5376672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37960" y="5029200"/>
            <a:ext cx="640080" cy="640080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3796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06640" y="4873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06640" y="517550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real traffic on Service A; Phase 2 gate review with this group.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Team Name  •  Presentation Title  •  Month YYYY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75720" y="6510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0E959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1280160"/>
            <a:ext cx="3474720" cy="347472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658368" cy="658368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mess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154277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4297680"/>
            <a:ext cx="4023360" cy="0"/>
          </a:xfrm>
          <a:prstGeom prst="line">
            <a:avLst/>
          </a:prstGeom>
          <a:noFill/>
          <a:ln w="12700">
            <a:solidFill>
              <a:srgbClr val="2237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  •  email@company.com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Links: design doc  •  runbook  •  dashboard  •  backlog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1318</Words>
  <Application>Microsoft Office PowerPoint</Application>
  <PresentationFormat>Widescreen</PresentationFormat>
  <Paragraphs>284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&amp; Architecture Template</dc:title>
  <dc:subject>PptxGenJS Presentation</dc:subject>
  <dc:creator>Template</dc:creator>
  <cp:lastModifiedBy>Teja B</cp:lastModifiedBy>
  <cp:revision>1</cp:revision>
  <dcterms:created xsi:type="dcterms:W3CDTF">2026-07-22T01:44:20Z</dcterms:created>
  <dcterms:modified xsi:type="dcterms:W3CDTF">2026-07-22T02:00:24Z</dcterms:modified>
</cp:coreProperties>
</file>